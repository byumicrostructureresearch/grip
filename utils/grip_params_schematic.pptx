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68" autoAdjust="0"/>
  </p:normalViewPr>
  <p:slideViewPr>
    <p:cSldViewPr snapToGrid="0">
      <p:cViewPr varScale="1">
        <p:scale>
          <a:sx n="100" d="100"/>
          <a:sy n="100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78DF0-1B89-A72F-CFB9-87F35DAD2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40132-8331-CA83-0A1E-9BE758116D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2817B-415E-AFBC-4D5B-CA6CB0A1E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AF7B-E21A-421F-88A2-A57E372E1314}" type="datetimeFigureOut">
              <a:rPr lang="en-US" smtClean="0"/>
              <a:t>2026-04-05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3F78E-64F9-877E-F28F-4F91B55C6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E7DC2-293F-EFBF-EBD9-E6ECD95CC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2662E-87A9-4166-A51C-2E499F509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09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77DD4-FA9E-8107-3065-47DDD1A6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2A37A-C368-2A94-DDEB-EE8B6BACC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0A1FE-B37E-899D-8C47-BB0546697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AF7B-E21A-421F-88A2-A57E372E1314}" type="datetimeFigureOut">
              <a:rPr lang="en-US" smtClean="0"/>
              <a:t>2026-04-05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D5100-F7B2-1209-A37A-9DBD73EFE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E5AC4-6780-A6ED-391A-305D574E2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2662E-87A9-4166-A51C-2E499F509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684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5892F-B07A-197F-77E4-CAC344132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934A7-9BB4-C132-4358-B824C92D8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40953-82D7-0FE2-CA97-B8D9F2CFB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AF7B-E21A-421F-88A2-A57E372E1314}" type="datetimeFigureOut">
              <a:rPr lang="en-US" smtClean="0"/>
              <a:t>2026-04-05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B230E-2EED-2A1F-97AF-07AD70F37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D99C6-F06E-C5DA-4F9F-FA1AA6880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2662E-87A9-4166-A51C-2E499F509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51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02837-9EBB-BA4D-A1DC-F3CB1C6CD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8812D-1887-527D-17BD-3DFF6F1E5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88E69-7A0E-F93F-8A4C-4947053ED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297D4-A52E-F494-BC82-88479D1BA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AF7B-E21A-421F-88A2-A57E372E1314}" type="datetimeFigureOut">
              <a:rPr lang="en-US" smtClean="0"/>
              <a:t>2026-04-05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68EEB-B33C-CA96-63B3-16BC4611A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0A2FB-D6E5-1BCE-BA55-27C0960E5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2662E-87A9-4166-A51C-2E499F509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4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29C11-6AB8-1C0B-7E07-AA7818963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E35FC-A350-18CE-719C-7B34CD188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3C0F7-A205-4EFD-753F-399632FEF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A5265D-7062-216C-EAF9-D39BB2C173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CEDCEE-8926-71F1-E38B-5D3438A87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CBE5D1-EEF0-463D-E260-0E0FA433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AF7B-E21A-421F-88A2-A57E372E1314}" type="datetimeFigureOut">
              <a:rPr lang="en-US" smtClean="0"/>
              <a:t>2026-04-05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9C6555-38AC-52DF-EC9E-AA359F215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9D2FD6-B67A-B12B-E64C-49EF28FCF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2662E-87A9-4166-A51C-2E499F509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039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CF1A1-38BD-D69B-D3C7-6456628B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DD841A-BF83-C7B4-DA8A-DCF3D8BBC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AF7B-E21A-421F-88A2-A57E372E1314}" type="datetimeFigureOut">
              <a:rPr lang="en-US" smtClean="0"/>
              <a:t>2026-04-05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C1819-4686-1688-A898-D06F4E343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02F45A-47AD-BD6A-49D1-349BEFAB7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2662E-87A9-4166-A51C-2E499F509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63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BF031E-3ED1-273F-8E14-F178E77FA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AF7B-E21A-421F-88A2-A57E372E1314}" type="datetimeFigureOut">
              <a:rPr lang="en-US" smtClean="0"/>
              <a:t>2026-04-05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3119FA-6925-3B3F-34E8-7D86FEA6E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19723-1054-961E-1973-76FCEA5E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2662E-87A9-4166-A51C-2E499F509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05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88296-E969-916E-D58D-C1AF5503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9677F-5DE9-AAF4-51F3-705E0E3CC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01740-C2C0-036D-8466-C28D586D3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5052B-6600-7305-225F-C9C0BC9BC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AF7B-E21A-421F-88A2-A57E372E1314}" type="datetimeFigureOut">
              <a:rPr lang="en-US" smtClean="0"/>
              <a:t>2026-04-05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61140-CFB4-CF33-ED20-3F5A9A102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2093B-A920-1293-916F-46F9F0200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2662E-87A9-4166-A51C-2E499F509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79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17640-50CE-BBCD-DCCA-9C26DBB09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5CCA56-C695-CBB3-FBC5-840517B52C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513F0F-92A2-9BC4-9CCC-A971353B3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6B069-6C99-160E-34D3-F51CF4B69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AF7B-E21A-421F-88A2-A57E372E1314}" type="datetimeFigureOut">
              <a:rPr lang="en-US" smtClean="0"/>
              <a:t>2026-04-05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9ADBF-2F09-33F5-44A0-E44CD08E4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6DC924-F285-6688-83BC-67AF9D97D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2662E-87A9-4166-A51C-2E499F509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012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736A3-EF54-A25F-9FD9-83D187DC8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939D86-2E5C-E992-475C-DFA824566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A9D10-98CA-1398-A41B-264F6A77C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AF7B-E21A-421F-88A2-A57E372E1314}" type="datetimeFigureOut">
              <a:rPr lang="en-US" smtClean="0"/>
              <a:t>2026-04-05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4C28C-D604-0A52-3621-78BAADE4D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EAB75-DFAA-9A64-38B2-272FCABB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2662E-87A9-4166-A51C-2E499F509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18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E576BE-4F24-66B9-DAEF-4786E60B3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72FF3E-3CF1-9FB6-83DC-EEB8DE942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3278E-01B8-BA4B-3FE9-B0FE24C8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6AF7B-E21A-421F-88A2-A57E372E1314}" type="datetimeFigureOut">
              <a:rPr lang="en-US" smtClean="0"/>
              <a:t>2026-04-05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63E48-42C3-6B16-1117-B30F90774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CF25A-5BFC-4874-E978-C5684B1DD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2662E-87A9-4166-A51C-2E499F509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8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7345BC-E71B-CD0F-6513-502077746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34053-8BAD-1B9D-8C40-8EC4C1842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B58EF-FD17-A519-B22C-44D69E526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6AF7B-E21A-421F-88A2-A57E372E1314}" type="datetimeFigureOut">
              <a:rPr lang="en-US" smtClean="0"/>
              <a:t>2026-04-05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3BC3C-6C02-9E4D-4222-F5F475F92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8438A-5A8F-96FA-DF53-8CC02828A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62662E-87A9-4166-A51C-2E499F509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34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EB1D6CE4-127E-584A-F269-7BE6416E1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1996" y="375910"/>
            <a:ext cx="1554480" cy="3063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AE255A-9B44-45E7-E6ED-F6BDC8671B07}"/>
              </a:ext>
            </a:extLst>
          </p:cNvPr>
          <p:cNvSpPr txBox="1"/>
          <p:nvPr/>
        </p:nvSpPr>
        <p:spPr>
          <a:xfrm>
            <a:off x="-1" y="0"/>
            <a:ext cx="5086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ptos SemiBold" panose="020F0502020204030204" pitchFamily="34" charset="0"/>
              </a:rPr>
              <a:t>Schematic of GRIP parameters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302EE-BC3D-B7F9-012A-492801239297}"/>
              </a:ext>
            </a:extLst>
          </p:cNvPr>
          <p:cNvSpPr txBox="1"/>
          <p:nvPr/>
        </p:nvSpPr>
        <p:spPr>
          <a:xfrm>
            <a:off x="0" y="638175"/>
            <a:ext cx="5886450" cy="59054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Aptos Mono" panose="020B0009020202020204" pitchFamily="49" charset="0"/>
              </a:rPr>
              <a:t>ngrid</a:t>
            </a:r>
            <a:r>
              <a:rPr lang="en-US" dirty="0"/>
              <a:t> divides the </a:t>
            </a:r>
            <a:r>
              <a:rPr lang="en-US" i="1" dirty="0"/>
              <a:t>unit</a:t>
            </a:r>
            <a:r>
              <a:rPr lang="en-US" dirty="0"/>
              <a:t> cell into </a:t>
            </a:r>
            <a:r>
              <a:rPr lang="en-US" i="1" dirty="0"/>
              <a:t>N</a:t>
            </a:r>
            <a:r>
              <a:rPr lang="en-US" dirty="0"/>
              <a:t> uniform increments to sample translations (d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dirty="0" err="1"/>
              <a:t>d</a:t>
            </a:r>
            <a:r>
              <a:rPr lang="en-US" i="1" dirty="0" err="1"/>
              <a:t>y</a:t>
            </a:r>
            <a:r>
              <a:rPr lang="en-US" dirty="0"/>
              <a:t>).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[</a:t>
            </a:r>
            <a:r>
              <a:rPr lang="en-US" i="1" dirty="0"/>
              <a:t>n</a:t>
            </a:r>
            <a:r>
              <a:rPr lang="en-US" dirty="0"/>
              <a:t>] samples atomic density between (</a:t>
            </a:r>
            <a:r>
              <a:rPr lang="en-US" dirty="0" err="1">
                <a:latin typeface="Aptos Mono" panose="020B0009020202020204" pitchFamily="49" charset="0"/>
              </a:rPr>
              <a:t>frac_min</a:t>
            </a:r>
            <a:r>
              <a:rPr lang="en-US" dirty="0"/>
              <a:t>, </a:t>
            </a:r>
            <a:r>
              <a:rPr lang="en-US" dirty="0" err="1">
                <a:latin typeface="Aptos Mono" panose="020B0009020202020204" pitchFamily="49" charset="0"/>
              </a:rPr>
              <a:t>frac_max</a:t>
            </a:r>
            <a:r>
              <a:rPr lang="en-US" dirty="0"/>
              <a:t>) in 1 GB layer (red atoms).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MD sampling is inclusive of the </a:t>
            </a:r>
            <a:r>
              <a:rPr lang="en-US" dirty="0" err="1">
                <a:latin typeface="Aptos Mono" panose="020B0009020202020204" pitchFamily="49" charset="0"/>
              </a:rPr>
              <a:t>gb_gap</a:t>
            </a:r>
            <a:r>
              <a:rPr lang="en-US" dirty="0"/>
              <a:t> region.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When inserting interstitials: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It might make sense to set </a:t>
            </a:r>
            <a:r>
              <a:rPr lang="en-US" dirty="0" err="1">
                <a:latin typeface="Aptos Mono" panose="020B0009020202020204" pitchFamily="49" charset="0"/>
              </a:rPr>
              <a:t>gb_gap</a:t>
            </a:r>
            <a:r>
              <a:rPr lang="en-US" dirty="0"/>
              <a:t> to 0 or </a:t>
            </a:r>
            <a:r>
              <a:rPr lang="en-US"/>
              <a:t>very small.</a:t>
            </a:r>
            <a:endParaRPr lang="en-US" dirty="0"/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Aptos Mono" panose="020B0009020202020204" pitchFamily="49" charset="0"/>
              </a:rPr>
              <a:t>inter_t</a:t>
            </a:r>
            <a:r>
              <a:rPr lang="en-US" dirty="0"/>
              <a:t> usually does not have to be very large.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2A26EC-D078-A656-3263-88D2A01EE0A2}"/>
              </a:ext>
            </a:extLst>
          </p:cNvPr>
          <p:cNvSpPr txBox="1"/>
          <p:nvPr/>
        </p:nvSpPr>
        <p:spPr>
          <a:xfrm>
            <a:off x="9653586" y="3390900"/>
            <a:ext cx="2538415" cy="30956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400" dirty="0" err="1">
                <a:latin typeface="Aptos Mono" panose="020B0009020202020204" pitchFamily="49" charset="0"/>
              </a:rPr>
              <a:t>gb_gap</a:t>
            </a:r>
            <a:r>
              <a:rPr lang="en-US" sz="1400" dirty="0">
                <a:latin typeface="Aptos Mono" panose="020B0009020202020204" pitchFamily="49" charset="0"/>
              </a:rPr>
              <a:t> </a:t>
            </a:r>
            <a:r>
              <a:rPr lang="en-US" sz="1400" dirty="0"/>
              <a:t>(</a:t>
            </a:r>
            <a:r>
              <a:rPr lang="en-US" sz="1400"/>
              <a:t>space between </a:t>
            </a:r>
            <a:r>
              <a:rPr lang="en-US" sz="1400" dirty="0"/>
              <a:t>slabs)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D9B8E9C-7B45-226B-45C3-9576D051E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088" y="3700462"/>
            <a:ext cx="1554480" cy="304091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598419F-6B55-4DDE-0668-724A92D653CF}"/>
              </a:ext>
            </a:extLst>
          </p:cNvPr>
          <p:cNvSpPr/>
          <p:nvPr/>
        </p:nvSpPr>
        <p:spPr>
          <a:xfrm>
            <a:off x="7749088" y="190502"/>
            <a:ext cx="1554481" cy="655087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14A9222-9CFD-4756-2873-C4B8F222BD8B}"/>
              </a:ext>
            </a:extLst>
          </p:cNvPr>
          <p:cNvCxnSpPr/>
          <p:nvPr/>
        </p:nvCxnSpPr>
        <p:spPr>
          <a:xfrm>
            <a:off x="9458325" y="3390900"/>
            <a:ext cx="0" cy="30956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1BFA72B-2D7D-421D-882B-E73392A2806A}"/>
              </a:ext>
            </a:extLst>
          </p:cNvPr>
          <p:cNvSpPr txBox="1"/>
          <p:nvPr/>
        </p:nvSpPr>
        <p:spPr>
          <a:xfrm>
            <a:off x="9653586" y="190502"/>
            <a:ext cx="2538413" cy="2143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400" dirty="0">
                <a:latin typeface="Aptos Mono" panose="020F0502020204030204" pitchFamily="49" charset="0"/>
              </a:rPr>
              <a:t>vacuum</a:t>
            </a:r>
            <a:r>
              <a:rPr lang="en-US" sz="1400" dirty="0"/>
              <a:t> (space above slabs)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C3E5C64-E975-F16D-EBAB-231C43338C74}"/>
              </a:ext>
            </a:extLst>
          </p:cNvPr>
          <p:cNvCxnSpPr>
            <a:cxnSpLocks/>
          </p:cNvCxnSpPr>
          <p:nvPr/>
        </p:nvCxnSpPr>
        <p:spPr>
          <a:xfrm>
            <a:off x="9458325" y="190502"/>
            <a:ext cx="0" cy="21431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E6686DC-03A8-DA81-D878-6C2A6EABEB5E}"/>
              </a:ext>
            </a:extLst>
          </p:cNvPr>
          <p:cNvCxnSpPr>
            <a:cxnSpLocks/>
          </p:cNvCxnSpPr>
          <p:nvPr/>
        </p:nvCxnSpPr>
        <p:spPr>
          <a:xfrm>
            <a:off x="9458325" y="2457450"/>
            <a:ext cx="0" cy="93345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8C59361-E8A5-B6DC-EB93-92E758C4F911}"/>
              </a:ext>
            </a:extLst>
          </p:cNvPr>
          <p:cNvSpPr txBox="1"/>
          <p:nvPr/>
        </p:nvSpPr>
        <p:spPr>
          <a:xfrm>
            <a:off x="9653585" y="2769394"/>
            <a:ext cx="2462215" cy="30956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400" dirty="0" err="1">
                <a:solidFill>
                  <a:srgbClr val="C00000"/>
                </a:solidFill>
                <a:latin typeface="Aptos Mono" panose="020B0009020202020204" pitchFamily="49" charset="0"/>
              </a:rPr>
              <a:t>gb_thick</a:t>
            </a:r>
            <a:r>
              <a:rPr lang="en-US" sz="1400" dirty="0">
                <a:solidFill>
                  <a:srgbClr val="C00000"/>
                </a:solidFill>
              </a:rPr>
              <a:t> (perturbation and MD sampling region)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5096359-E0BD-BDC5-FD61-622EEB8A3FF4}"/>
              </a:ext>
            </a:extLst>
          </p:cNvPr>
          <p:cNvCxnSpPr>
            <a:cxnSpLocks/>
          </p:cNvCxnSpPr>
          <p:nvPr/>
        </p:nvCxnSpPr>
        <p:spPr>
          <a:xfrm>
            <a:off x="9458325" y="3700462"/>
            <a:ext cx="0" cy="93345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5288620-1E7A-6940-FB5D-8E0823D38E8F}"/>
              </a:ext>
            </a:extLst>
          </p:cNvPr>
          <p:cNvSpPr txBox="1"/>
          <p:nvPr/>
        </p:nvSpPr>
        <p:spPr>
          <a:xfrm>
            <a:off x="9653586" y="4012406"/>
            <a:ext cx="2462214" cy="30956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400" dirty="0" err="1">
                <a:solidFill>
                  <a:srgbClr val="C00000"/>
                </a:solidFill>
                <a:latin typeface="Aptos Mono" panose="020B0009020202020204" pitchFamily="49" charset="0"/>
              </a:rPr>
              <a:t>gb_thick</a:t>
            </a:r>
            <a:r>
              <a:rPr lang="en-US" sz="1400" dirty="0">
                <a:solidFill>
                  <a:srgbClr val="C00000"/>
                </a:solidFill>
              </a:rPr>
              <a:t> (perturbation and MD sampling region)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2484915-F7A9-33DC-6C5D-367D1F8342FE}"/>
              </a:ext>
            </a:extLst>
          </p:cNvPr>
          <p:cNvCxnSpPr>
            <a:cxnSpLocks/>
          </p:cNvCxnSpPr>
          <p:nvPr/>
        </p:nvCxnSpPr>
        <p:spPr>
          <a:xfrm flipH="1">
            <a:off x="7594332" y="3550444"/>
            <a:ext cx="6618" cy="45958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AC60700-D272-00DD-45A0-D135823EB68D}"/>
              </a:ext>
            </a:extLst>
          </p:cNvPr>
          <p:cNvSpPr txBox="1"/>
          <p:nvPr/>
        </p:nvSpPr>
        <p:spPr>
          <a:xfrm>
            <a:off x="6034589" y="3570685"/>
            <a:ext cx="1559744" cy="4393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400" dirty="0" err="1">
                <a:latin typeface="Aptos Mono" panose="020B0009020202020204" pitchFamily="49" charset="0"/>
              </a:rPr>
              <a:t>inter_t</a:t>
            </a:r>
            <a:r>
              <a:rPr lang="en-US" sz="1400" dirty="0"/>
              <a:t> (search for interstitial sites)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9E535B0-8634-59E2-4159-D0D944A9BD94}"/>
              </a:ext>
            </a:extLst>
          </p:cNvPr>
          <p:cNvCxnSpPr>
            <a:cxnSpLocks/>
          </p:cNvCxnSpPr>
          <p:nvPr/>
        </p:nvCxnSpPr>
        <p:spPr>
          <a:xfrm flipH="1">
            <a:off x="7594332" y="3070622"/>
            <a:ext cx="6618" cy="45958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968236B-88C4-9074-6029-62D44B39844D}"/>
              </a:ext>
            </a:extLst>
          </p:cNvPr>
          <p:cNvSpPr txBox="1"/>
          <p:nvPr/>
        </p:nvSpPr>
        <p:spPr>
          <a:xfrm>
            <a:off x="6034589" y="3090863"/>
            <a:ext cx="1559744" cy="4393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400" dirty="0" err="1">
                <a:latin typeface="Aptos Mono" panose="020B0009020202020204" pitchFamily="49" charset="0"/>
              </a:rPr>
              <a:t>inter_t</a:t>
            </a:r>
            <a:r>
              <a:rPr lang="en-US" sz="1400" dirty="0"/>
              <a:t> (search for interstitial sites)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7E4258-9C67-20DD-FA4E-0375CE7CD8FA}"/>
              </a:ext>
            </a:extLst>
          </p:cNvPr>
          <p:cNvSpPr txBox="1"/>
          <p:nvPr/>
        </p:nvSpPr>
        <p:spPr>
          <a:xfrm>
            <a:off x="9653585" y="1907735"/>
            <a:ext cx="2538415" cy="30956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400" dirty="0">
                <a:latin typeface="Aptos Mono" panose="020B0009020202020204" pitchFamily="49" charset="0"/>
              </a:rPr>
              <a:t>pad</a:t>
            </a:r>
            <a:r>
              <a:rPr lang="en-US" sz="1400" dirty="0"/>
              <a:t> (for relaxation and included in </a:t>
            </a:r>
            <a:r>
              <a:rPr lang="en-US" sz="1400" i="1" dirty="0"/>
              <a:t>E</a:t>
            </a:r>
            <a:r>
              <a:rPr lang="en-US" sz="1400" baseline="-25000" dirty="0"/>
              <a:t>gb</a:t>
            </a:r>
            <a:r>
              <a:rPr lang="en-US" sz="1400" dirty="0"/>
              <a:t> calculation)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BD762A8-729E-83E3-4066-A6521B9208D9}"/>
              </a:ext>
            </a:extLst>
          </p:cNvPr>
          <p:cNvCxnSpPr>
            <a:cxnSpLocks/>
          </p:cNvCxnSpPr>
          <p:nvPr/>
        </p:nvCxnSpPr>
        <p:spPr>
          <a:xfrm flipH="1">
            <a:off x="9458324" y="1704975"/>
            <a:ext cx="1" cy="75247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153AB2F-00D2-759E-CFA9-B72F04E35BE3}"/>
              </a:ext>
            </a:extLst>
          </p:cNvPr>
          <p:cNvSpPr txBox="1"/>
          <p:nvPr/>
        </p:nvSpPr>
        <p:spPr>
          <a:xfrm>
            <a:off x="9653585" y="4836672"/>
            <a:ext cx="2538415" cy="30956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400" dirty="0">
                <a:latin typeface="Aptos Mono" panose="020B0009020202020204" pitchFamily="49" charset="0"/>
              </a:rPr>
              <a:t>pad</a:t>
            </a:r>
            <a:r>
              <a:rPr lang="en-US" sz="1400" dirty="0"/>
              <a:t> (for relaxation and included in </a:t>
            </a:r>
            <a:r>
              <a:rPr lang="en-US" sz="1400" i="1" dirty="0"/>
              <a:t>E</a:t>
            </a:r>
            <a:r>
              <a:rPr lang="en-US" sz="1400" baseline="-25000" dirty="0"/>
              <a:t>gb</a:t>
            </a:r>
            <a:r>
              <a:rPr lang="en-US" sz="1400" dirty="0"/>
              <a:t> calculation)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E15C60F-875D-CE4E-2B54-E4692E9D30C0}"/>
              </a:ext>
            </a:extLst>
          </p:cNvPr>
          <p:cNvCxnSpPr>
            <a:cxnSpLocks/>
          </p:cNvCxnSpPr>
          <p:nvPr/>
        </p:nvCxnSpPr>
        <p:spPr>
          <a:xfrm flipH="1">
            <a:off x="9458324" y="4633912"/>
            <a:ext cx="1" cy="75247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DA68A33-18B8-D953-9165-09CB2AD347CF}"/>
              </a:ext>
            </a:extLst>
          </p:cNvPr>
          <p:cNvSpPr txBox="1"/>
          <p:nvPr/>
        </p:nvSpPr>
        <p:spPr>
          <a:xfrm>
            <a:off x="9653585" y="5910262"/>
            <a:ext cx="2538415" cy="30956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Lower region is always frozen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10C1B9-9232-B3F2-77D9-EF90F45AAD27}"/>
              </a:ext>
            </a:extLst>
          </p:cNvPr>
          <p:cNvSpPr txBox="1"/>
          <p:nvPr/>
        </p:nvSpPr>
        <p:spPr>
          <a:xfrm>
            <a:off x="9653585" y="988926"/>
            <a:ext cx="2538415" cy="30956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Upper region moves together</a:t>
            </a:r>
          </a:p>
        </p:txBody>
      </p:sp>
    </p:spTree>
    <p:extLst>
      <p:ext uri="{BB962C8B-B14F-4D97-AF65-F5344CB8AC3E}">
        <p14:creationId xmlns:p14="http://schemas.microsoft.com/office/powerpoint/2010/main" val="1252965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168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Aptos Mono</vt:lpstr>
      <vt:lpstr>Aptos SemiBold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Enze Chen</dc:creator>
  <cp:lastModifiedBy>Enze Chen</cp:lastModifiedBy>
  <cp:revision>12</cp:revision>
  <dcterms:created xsi:type="dcterms:W3CDTF">2026-04-05T21:21:00Z</dcterms:created>
  <dcterms:modified xsi:type="dcterms:W3CDTF">2026-04-06T00:49:37Z</dcterms:modified>
</cp:coreProperties>
</file>